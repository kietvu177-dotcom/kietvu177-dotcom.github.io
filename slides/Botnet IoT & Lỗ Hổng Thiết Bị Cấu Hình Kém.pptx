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855690"/>
            <a:ext cx="8572500" cy="1171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1830734"/>
            <a:ext cx="9001125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b="1" sz="4050" i="0" u="none">
                <a:solidFill>
                  <a:srgbClr val="0F766E"/>
                </a:solidFill>
                <a:latin typeface="Poppins"/>
              </a:rPr>
              <a:t>Botnet IoT &amp; Lỗ Hổng Thiết Bị Cấu Hình Kém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255615"/>
            <a:ext cx="8572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Giải phẫu cuộc tấn công và Bản thiết kế phòng thủ chiều sâu (Hardening)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9775" y="4055715"/>
            <a:ext cx="8172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Học phần: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Bảo mật IoT (INT570) — Lớp: INT4410 |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Đề tài: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9775" y="4312890"/>
            <a:ext cx="8172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Giảng viên hướng dẫn: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Hồ Nhựt Minh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9775" y="4570065"/>
            <a:ext cx="8172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Sinh viên thực hiện: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Vũ Nguyễn Anh Kiệt (MSSV: 231A010449) — Trường Đại học Văn Hiến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95525"/>
            <a:ext cx="5334000" cy="2838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Bức Tranh Toàn Cảnh: Mạng Lưới Đang Bị Vũ Khí Hóa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1775" y="2590800"/>
            <a:ext cx="49806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Poppins"/>
              </a:rPr>
              <a:t>Cam Kết An Toàn Học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1775" y="3067050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5803D"/>
                </a:solidFill>
                <a:latin typeface="Lato"/>
              </a:rPr>
              <a:t>Phạm vi:</a:t>
            </a:r>
            <a:r>
              <a:rPr b="0" sz="1350" i="0" u="none">
                <a:solidFill>
                  <a:srgbClr val="15803D"/>
                </a:solidFill>
                <a:latin typeface="Lato"/>
              </a:rPr>
              <a:t> Phân tích hoàn toàn dựa trên lý thuyết và môi trường mô phỏng mã nguồn mở (Localhost).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3695700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5803D"/>
                </a:solidFill>
                <a:latin typeface="Lato"/>
              </a:rPr>
              <a:t>Góc độ:</a:t>
            </a:r>
            <a:r>
              <a:rPr b="0" sz="1350" i="0" u="none">
                <a:solidFill>
                  <a:srgbClr val="15803D"/>
                </a:solidFill>
                <a:latin typeface="Lato"/>
              </a:rPr>
              <a:t> Tập trung 100% vào Phòng thủ (Defense) và Tăng cường bảo mật (Hardening).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4324350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5803D"/>
                </a:solidFill>
                <a:latin typeface="Lato"/>
              </a:rPr>
              <a:t>Cam kết:</a:t>
            </a:r>
            <a:r>
              <a:rPr b="0" sz="1350" i="0" u="none">
                <a:solidFill>
                  <a:srgbClr val="15803D"/>
                </a:solidFill>
                <a:latin typeface="Lato"/>
              </a:rPr>
              <a:t> Không quét, không khai thác, không dính kèm dữ liệu thực tế từ Internet.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295525"/>
            <a:ext cx="4953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Sự Bùng Nổ IoT: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Hàng tỷ thiết bị kết nối 24/7 với băng thông lớn, tạo ra bề mặt tấn công khổng lồ chưa từng có.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000375"/>
            <a:ext cx="4953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Điểm Mù Bảo Mật: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Tài nguyên hạn chế, mật khẩu mặc định yếu, dịch vụ quản trị (Telnet/SSH) mở toang ra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705225"/>
            <a:ext cx="4953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Thói quen cốt lõi: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Tư duy Plug-and-Play khiến thiết bị trở thành miếng mồi ngon cho Mirai, Mozi thực hiện các chiến dịch DDoS quy mô lớn.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9812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14662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19512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33650"/>
            <a:ext cx="3492549" cy="2362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533650"/>
            <a:ext cx="3492549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533650"/>
            <a:ext cx="3492549" cy="236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Mục tiêu Chiến lược của Đề Tài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390900"/>
            <a:ext cx="24203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1. Phân tích (Analyze)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19525"/>
            <a:ext cx="2741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Tiêu điểm: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Giải phẫu vòng đời Botnet IoT.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143375"/>
            <a:ext cx="2901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Hành động: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Nhận diện 5 giai đoạn tấn công dưới góc nhìn phòng thủ.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390900"/>
            <a:ext cx="276284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2. Chẩn đoán (Diagnose)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819525"/>
            <a:ext cx="26524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Tiêu điểm: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Bóc tách các lỗi cấu hình kém.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143375"/>
            <a:ext cx="2901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Hành động: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Truy tìm nguyên nhân cốt lõi khiến thiết bị bị chiếm quyền dễ dàng.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3390900"/>
            <a:ext cx="2372796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3. Triển khai (Deploy)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819525"/>
            <a:ext cx="239375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Tiêu điểm: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Đề xuất cơ chế phòng vệ.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143375"/>
            <a:ext cx="2901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Hành động: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Cung cấp Checklist Hardening và bảng phân tích Nguyên nhân - Biện pháp.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765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87655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87655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86037"/>
            <a:ext cx="3492549" cy="2257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586037"/>
            <a:ext cx="3492549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586037"/>
            <a:ext cx="3492549" cy="2257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Nền Tảng Phòng Thủ: Tiêu Chuẩn OWASP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881312"/>
            <a:ext cx="207025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OWASP IoT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309937"/>
            <a:ext cx="112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Nhận diện Rủi 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33787"/>
            <a:ext cx="2901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Cơ sở nhận diện Top 10 rủi ro IoT. Trọng tâm: I1 (Mật khẩu yếu/mặc định), I2 (Dịch vụ không an toàn), I3 (Cập nhật kém).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2881312"/>
            <a:ext cx="179022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OWASP IoTGoat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309937"/>
            <a:ext cx="13409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Mô phỏng Khai thác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633787"/>
            <a:ext cx="290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Môi trường Firmware chứa lỗi cố ý. Tham chiếu kiến trúc để hiểu cách kẻ tấn công khai thác Telnet mà không cần tấn công thiết bị thật.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2881312"/>
            <a:ext cx="139017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OWASP ISVS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309937"/>
            <a:ext cx="14134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Tiêu chuẩn Kiểm thử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633787"/>
            <a:ext cx="2901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IoT Security Verification Standard. Cung cấp bộ khung yêu cầu phần cứng/phần mềm để xây dựng Checklist Hardening chính xác.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71662"/>
            <a:ext cx="3492549" cy="2019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871662"/>
            <a:ext cx="3492549" cy="2019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871662"/>
            <a:ext cx="3492549" cy="2019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81462"/>
            <a:ext cx="5381625" cy="1476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081462"/>
            <a:ext cx="5381625" cy="1476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Giải Phẫu Cuộc Tấn Công: Vòng Đời Botnet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166937"/>
            <a:ext cx="239279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1. Rà Quét &amp; Tìm Kiếm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595562"/>
            <a:ext cx="2901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Phát tán gói tin SYN rác trên không gian mạng công cộng, săn lùng cổng 23 (Telnet), 22 (SSH) đang mở.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2166937"/>
            <a:ext cx="304709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2. Chiếm Quyền (Brute-force)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2909887"/>
            <a:ext cx="2901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Thử đăng nhập hàng loạt bằng từ điển mật khẩu mặc định (admin/admin, root/xc3511) hoặc khai thác lỗ hổng CVE.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2166937"/>
            <a:ext cx="214511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3. Nhận Lệnh (C&amp;C)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2595562"/>
            <a:ext cx="2901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Tải payload mã độc, xóa dấu vết, thiết lập kết nối ngầm (Reverse Connection) về máy chủ điều khiển Command &amp;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376737"/>
            <a:ext cx="332963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4. Tấn Công Đồng Loạt (DDoS)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4805362"/>
            <a:ext cx="47910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Nhận lệnh từ C2, thiết bị hóa thành Zombies xả băng thông rác HTTP Flood, UDP Flood làm sập mục tiêu.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4376737"/>
            <a:ext cx="216027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5. Duy Trì &amp; Lây 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4805362"/>
            <a:ext cx="47910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Trở thành node dò quét mới, tiếp tục phát tán mã độc sang các thiết bị khác trong mạng nội bộ (Lateral Movement).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95512"/>
            <a:ext cx="11049000" cy="1552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38587"/>
            <a:ext cx="11049000" cy="1295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Ma Trận Chẩn Đoán Lỗ Hổng (Phần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443162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766E"/>
                </a:solidFill>
                <a:latin typeface="Lato"/>
              </a:rPr>
              <a:t>Định danh (Credentials)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2728912"/>
            <a:ext cx="33909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Mật khẩu mặc định hoặc mã hóa cứng (Hardcoded) cho phép Botnet đăng nhập chỉ trong vài giây.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550" y="2571750"/>
            <a:ext cx="754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Lato"/>
              </a:rPr>
              <a:t>Hậu quả: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0550" y="28575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Kiểm soát hoàn toàn hệ thống nhúng với quyền cao nhất (Root).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1950" y="2571750"/>
            <a:ext cx="8298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Lato"/>
              </a:rPr>
              <a:t>Giải pháp: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1950" y="28575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Bắt buộc đổi mật khẩu ở lần khởi động đầu tiên. Loại bỏ tài khoản backdoor.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4186237"/>
            <a:ext cx="20565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766E"/>
                </a:solidFill>
                <a:latin typeface="Lato"/>
              </a:rPr>
              <a:t>Dịch vụ Mạng (Services)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471987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Mở cổng dịch vụ không an toàn (Telnet, HTTP thuần) lộ thông tin dạng văn bản rõ.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4186237"/>
            <a:ext cx="754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Lato"/>
              </a:rPr>
              <a:t>Hậu quả: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4471987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Kẻ tấn công nghe lén (sniff) gói tin và đánh cắp thông số cấu hình nhạy cảm.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1950" y="4186237"/>
            <a:ext cx="8298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Lato"/>
              </a:rPr>
              <a:t>Giải pháp: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1950" y="4471987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Tắt Telnet/HTTP. Chuyển sang SSH (dùng Key-pair) và HTTPS bảo mật.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24100"/>
            <a:ext cx="11049000" cy="1295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0"/>
            <a:ext cx="11049000" cy="1295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Ma Trận Chẩn Đoán Lỗ Hổng (Phần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571750"/>
            <a:ext cx="17359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766E"/>
                </a:solidFill>
                <a:latin typeface="Lato"/>
              </a:rPr>
              <a:t>Cập nhật (Firmware)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28575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Firmware lỗi thời, không có cơ chế OTA Update an toàn từ nhà sản xuất.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550" y="2571750"/>
            <a:ext cx="754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Lato"/>
              </a:rPr>
              <a:t>Hậu quả: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0550" y="28575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Tồn tại các lỗ hổng CVE công khai cho phép RCE (Remote Code Execution).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1950" y="2571750"/>
            <a:ext cx="8298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Lato"/>
              </a:rPr>
              <a:t>Giải pháp: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1950" y="28575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Tự động hóa kiểm tra cập nhật, áp dụng chữ ký số (Digital Signature).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4057650"/>
            <a:ext cx="15223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766E"/>
                </a:solidFill>
                <a:latin typeface="Lato"/>
              </a:rPr>
              <a:t>Môi trường Mạng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3434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Kết nối trực tiếp ra Internet (Public IP) mà không đặt sau tường lửa.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4057650"/>
            <a:ext cx="754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Lato"/>
              </a:rPr>
              <a:t>Hậu quả: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43434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Bất kỳ ai trên Internet cũng có thể tiếp cận giao diện quản trị thiết bị.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1950" y="4057650"/>
            <a:ext cx="8298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Lato"/>
              </a:rPr>
              <a:t>Giải pháp: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1950" y="4343400"/>
            <a:ext cx="3390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Đặt sau NAT/Firewall. Quản trị qua VPN nội bộ hoặc Cloud Relay bảo mật.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09737"/>
            <a:ext cx="11049000" cy="2105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05262"/>
            <a:ext cx="11049000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Dashboard Tăng Cường Bảo Mật (Hardening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005012"/>
            <a:ext cx="109813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A. Quản lý Định danh &amp; Truy cập (Mapped to OWASP I1)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300537"/>
            <a:ext cx="109813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B. Cấu hình Dịch vụ Mạng (Mapped to OWASP I2)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462212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Thay đổi mật khẩu mặc định (admin/root) ngay lần đầu khởi động.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852737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Áp dụng chính sách mật khẩu phức tạp (ký tự hoa, thường, số, đặc biệt).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243262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Bật tính năng khóa tài khoản (Account Lockout) sau 5 lần nhập sai.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757737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Đóng hoàn toàn cổng Telnet (Port 23) và FTP (Port 21).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5148262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Cô lập thiết bị vào VLAN riêng biệt, ngăn chặn hoàn toàn kết nối ngang hàng.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462212"/>
            <a:ext cx="43815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852737"/>
            <a:ext cx="43815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243262"/>
            <a:ext cx="43815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757737"/>
            <a:ext cx="43815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5148262"/>
            <a:ext cx="43815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05000"/>
            <a:ext cx="11049000" cy="1714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0"/>
            <a:ext cx="11049000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Dashboard Tăng Cường Bảo Mật (Hardening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200275"/>
            <a:ext cx="109813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C. Quản lý Cập nhật (Mapped to OWASP I3)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105275"/>
            <a:ext cx="109813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D. Giám sát &amp; Xử lý Sự cố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657475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Thiết bị đang chạy phiên bản Firmware được vá lỗi mới nhất.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48000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Đăng ký nhận bản tin cảnh báo bảo mật từ nhà sản xuất phần cứng.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562475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Cấu hình Firewall ACL chặn chiều Outbound đối với Port 23/22.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953000"/>
            <a:ext cx="104584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Định kỳ khởi động lại thiết bị để làm sạch RAM khỏi mã độc lưu trú tạm thời.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657475"/>
            <a:ext cx="43815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048000"/>
            <a:ext cx="43815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562475"/>
            <a:ext cx="43815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953000"/>
            <a:ext cx="43815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81262"/>
            <a:ext cx="5334000" cy="2209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81262"/>
            <a:ext cx="5334000" cy="2466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Xử Lý Thiết Bị Cũ &amp; Chuyển Dịch Phòng Thủ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776537"/>
            <a:ext cx="49806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91B1B"/>
                </a:solidFill>
                <a:latin typeface="Poppins"/>
              </a:rPr>
              <a:t>Vấn Đề: Thiết Bị Cũ (Legacy)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252787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7F1D1D"/>
                </a:solidFill>
                <a:latin typeface="Lato"/>
              </a:rPr>
              <a:t>Thực trạng:</a:t>
            </a:r>
            <a:r>
              <a:rPr b="0" sz="1350" i="0" u="none">
                <a:solidFill>
                  <a:srgbClr val="7F1D1D"/>
                </a:solidFill>
                <a:latin typeface="Lato"/>
              </a:rPr>
              <a:t> Nhà sản xuất đã ngừng hỗ trợ, không thể phát hành bản vá Firmware mới.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81437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7F1D1D"/>
                </a:solidFill>
                <a:latin typeface="Lato"/>
              </a:rPr>
              <a:t>Hệ quả:</a:t>
            </a:r>
            <a:r>
              <a:rPr b="0" sz="1350" i="0" u="none">
                <a:solidFill>
                  <a:srgbClr val="7F1D1D"/>
                </a:solidFill>
                <a:latin typeface="Lato"/>
              </a:rPr>
              <a:t> Cấu hình trực tiếp trên thiết bị (Device-level hardening) trở nên bất khả thi và hoàn toàn vô tác dụng.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776537"/>
            <a:ext cx="49806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Poppins"/>
              </a:rPr>
              <a:t>Giải Pháp: Network-level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252787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5803D"/>
                </a:solidFill>
                <a:latin typeface="Lato"/>
              </a:rPr>
              <a:t>Chuyển dịch:</a:t>
            </a:r>
            <a:r>
              <a:rPr b="0" sz="1350" i="0" u="none">
                <a:solidFill>
                  <a:srgbClr val="15803D"/>
                </a:solidFill>
                <a:latin typeface="Lato"/>
              </a:rPr>
              <a:t> Bắt buộc dựa hoàn toàn vào lớp bảo vệ mạng bên ngoài.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881437"/>
            <a:ext cx="4743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5803D"/>
                </a:solidFill>
                <a:latin typeface="Lato"/>
              </a:rPr>
              <a:t>Thực thi:</a:t>
            </a:r>
            <a:r>
              <a:rPr b="0" sz="1350" i="0" u="none">
                <a:solidFill>
                  <a:srgbClr val="15803D"/>
                </a:solidFill>
                <a:latin typeface="Lato"/>
              </a:rPr>
              <a:t> Cô lập VLAN nghiêm ngặt, chặn mọi luồng traffic từ Internet đi trực tiếp vào thiết bị thông qua Tường lửa (Firewall ACL).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466975"/>
            <a:ext cx="5334000" cy="2495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0287"/>
            <a:ext cx="5334000" cy="2828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Nguyên Tắc Vàng: Sức Mạnh Vệ Sinh An Ninh Mạng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3188" y="3686175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166534"/>
                </a:solidFill>
                <a:latin typeface="Poppins"/>
              </a:rPr>
              <a:t>Phòng Ngừa Từ Gốc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4152900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15803D"/>
                </a:solidFill>
                <a:latin typeface="Lato"/>
              </a:rPr>
              <a:t>Sự cẩu thả trong cấu hình ban đầu chính là nguyên nhân lớn nhất dẫn đến thảm họa Botnet quy mô toàn cầu.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595562"/>
            <a:ext cx="4980622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Poppins"/>
              </a:rPr>
              <a:t>Phương pháp: Chi phí thấp - Hiệu quả 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405187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Bảo mật IoT không nhất thiết phải bắt đầu từ các thuật toán mã hóa phức tạp hay phần cứng đắt đỏ.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062412"/>
            <a:ext cx="4743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Chỉ cần áp dụng triệt để các nguyên tắc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Cyber Hygiene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cơ bản dựa trên Checklist, chúng ta có thể loại bỏ hơn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90%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nguy cơ lây nhiễm Botnet tự động từ không gian mạng.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Poppins"/>
              </a:rPr>
              <a:t>Tương Lai Phòng Thủ &amp; Tài Liệu Tham Khảo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52712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Hướng Phát Triển: SDN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09912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Software-Defined Networking: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Tự động hóa hoàn toàn việc giám sát.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509962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Khả năng tự động cách ly (isolate) các thiết bị IoT có hành vi mạng bất thường ngay lập tức trong quy mô mạng doanh nghiệp.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52712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oppins"/>
              </a:rPr>
              <a:t>Tài Liệu Tham Khảo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09912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• OWASP IoT Project: Top 10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462337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• OWASP IoTGoat: Vulnerable Firmware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814762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• OWASP ISVS: Security Verification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167187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• Russell, B. &amp; Van Duren, D. Practical IoT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4519612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• Bài giảng Bảo mật IoT (INT570) - GV. Hồ Nhựt Minh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